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" cy="685800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3200400" cy="1183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5266"/>
                </a:solidFill>
              </a:defRPr>
            </a:pPr>
            <a:r>
              <a:t>HR Management System (HRMS)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7B91"/>
                </a:solidFill>
              </a:defRPr>
            </a:pPr>
            <a:r>
              <a:t>Comprehensive Digital HR Solution — End-to-End Workforce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6C757D"/>
                </a:solidFill>
              </a:defRPr>
            </a:pPr>
            <a:r>
              <a:t>Metal Reconstruction (1985)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C757D"/>
                </a:solidFill>
              </a:defRPr>
            </a:pPr>
            <a:r>
              <a:t>April 2026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5029200"/>
            <a:ext cx="914400" cy="914400"/>
          </a:xfrm>
          <a:prstGeom prst="ellipse">
            <a:avLst/>
          </a:prstGeom>
          <a:solidFill>
            <a:srgbClr val="00A8B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0C8C8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82880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System Overview &amp; 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Employee Management Module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Attendance Management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Leave Management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5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Payroll &amp; Salary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Shift &amp; Roster Management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Policy Management 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18745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Approval Workflow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2316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24688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Compliance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1752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0632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Admin Panel &amp; Configuration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1188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657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Analytics &amp;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0624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25195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Mobile Application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457200" cy="41148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846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Security &amp;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94960"/>
            <a:ext cx="457200" cy="4114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5440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Benefits &amp;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645920"/>
            <a:ext cx="5486400" cy="228600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66"/>
                </a:solidFill>
              </a:defRPr>
            </a:pPr>
            <a:r>
              <a:t>What is HRMS?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A full-stack Human Resource Management System designed to digitize and automate all HR operations — from employee onboarding to payroll processing.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It replaces manual spreadsheets and paper-based workflows with a centralized, web-based platform accessible from both desktop and mobile.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66"/>
                </a:solidFill>
              </a:defRPr>
            </a:pPr>
            <a: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80560"/>
            <a:ext cx="1645920" cy="34747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526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Node.js, Express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864608"/>
            <a:ext cx="1645920" cy="34747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9103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MongoDB (Cloud/Atlas)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48656"/>
            <a:ext cx="1645920" cy="347472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29437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HTML5, CSS3, JavaScript (SPA-style)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32704"/>
            <a:ext cx="1645920" cy="34747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67842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Capacitor (Android App)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016752"/>
            <a:ext cx="1645920" cy="347472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File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0624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Excel Import/Export (xlsx), Image Upload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6400800"/>
            <a:ext cx="1645920" cy="347472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RESTful API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5669280" cy="484632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3657600"/>
            <a:ext cx="1097280" cy="109728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286000"/>
            <a:ext cx="146304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Employees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2286000"/>
            <a:ext cx="14630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Attendance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029200"/>
            <a:ext cx="1463040" cy="54864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5029200"/>
            <a:ext cx="1463040" cy="54864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Employee Management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669280" cy="292608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Core Features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Full Employee Profiles — Complete personal &amp; employment details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95728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Employee Types — Regular, Casual, Contractual, Temporary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9776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Status Lifecycle — Active → Salary Held → Resigned → File Closed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63824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455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Transfer Management — Track inter-project transfers with history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47872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95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Separation Workflow — Resignation &amp; termination recording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31920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Bulk Upload — Import employees via Excel spreadsheet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315968"/>
            <a:ext cx="109728" cy="109728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Advanced Search — Filter by multiple criteria with pagination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Employee Data Captured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3776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Personal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9560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Name, Father's Name, DOB, Gender, Address, NID, Phone, 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0352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Employment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32180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Employee ID, Type, Designation, Joining Date, Project, Office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66928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Salary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87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Gross Salary, Basic, Food, Station, Hardship, Conveyance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603504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Deductions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605332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Gratuity, CPF, Festival Advance, Loan, TDS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640080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Leave Balances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64190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Sick Leave (14), Casual Leave (10), Earned Leave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55448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554480"/>
            <a:ext cx="5577840" cy="73152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Employee Profile Dashboard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2468880"/>
            <a:ext cx="822960" cy="8229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25146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ID: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514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EMP001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880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Name: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880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John Doe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246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Department: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246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6118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Designation: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61187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Senior 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97763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Status: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9776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3434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757D"/>
                </a:solidFill>
              </a:defRPr>
            </a:pPr>
            <a:r>
              <a:t>Join Date: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3434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2023-01-15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4937760"/>
            <a:ext cx="9144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Active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0" y="4937760"/>
            <a:ext cx="914400" cy="3200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On Leave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78240" y="4937760"/>
            <a:ext cx="914400" cy="3200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Resigned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Attendance Management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486400" cy="219456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GPS-Based Attendance Tracking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11680"/>
            <a:ext cx="228600" cy="22860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Location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Real-time GPS coordinates at check-in/out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23160"/>
            <a:ext cx="228600" cy="22860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Geo-Fencing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Configurable radius validation from office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34640"/>
            <a:ext cx="228600" cy="22860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Selfie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Mandatory photo for identity verification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246120"/>
            <a:ext cx="228600" cy="22860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Out-of-Range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461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Automatic flagging when outside geo-fence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5486400" cy="256032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Smart Detection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256032" cy="25603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Late Arrival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348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Flags after shift time + grace period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256032" cy="25603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Early Departure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8920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Detects leaving before shift 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256032" cy="25603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Over-Duty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3492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&gt;9 hours requires justification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06440"/>
            <a:ext cx="256032" cy="256032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Justification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8064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Multi-level approval for violations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554480"/>
            <a:ext cx="2743200" cy="4937760"/>
          </a:xfrm>
          <a:prstGeom prst="round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63640" y="173736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66"/>
                </a:solidFill>
              </a:defRPr>
            </a:pPr>
            <a:r>
              <a:t>Check-In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377440"/>
            <a:ext cx="2011680" cy="2011680"/>
          </a:xfrm>
          <a:prstGeom prst="roundRect">
            <a:avLst/>
          </a:prstGeom>
          <a:solidFill>
            <a:srgbClr val="E9ECE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1089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492240" y="4572000"/>
            <a:ext cx="20116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GPS Active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120640"/>
            <a:ext cx="1645920" cy="45720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CHECK 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1554480"/>
            <a:ext cx="2834640" cy="493776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66"/>
                </a:solidFill>
              </a:defRPr>
            </a:pPr>
            <a:r>
              <a:t>Today's Attendance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21031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194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</a:defRPr>
            </a:pPr>
            <a:r>
              <a:t>142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6060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Present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063239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31546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5661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Late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023359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11479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3545"/>
                </a:solidFill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5262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Absent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4983479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50749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91"/>
                </a:solidFill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4863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On Leave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Leave Management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11430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Leave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45920"/>
            <a:ext cx="1645920" cy="45720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Days/Year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4937760" cy="45720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47472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5266"/>
                </a:solidFill>
              </a:defRPr>
            </a:pPr>
            <a:r>
              <a:t>Sick Leave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48840"/>
            <a:ext cx="164592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2529"/>
                </a:solidFill>
              </a:defRPr>
            </a:pPr>
            <a:r>
              <a:t>14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148840"/>
            <a:ext cx="493776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Medical leave with balance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3474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5266"/>
                </a:solidFill>
              </a:defRPr>
            </a:pPr>
            <a:r>
              <a:t>Casual Leave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60604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2529"/>
                </a:solidFill>
              </a:defRPr>
            </a:pPr>
            <a:r>
              <a:t>10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606040"/>
            <a:ext cx="49377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Personal/casual leave for urgent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347472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5266"/>
                </a:solidFill>
              </a:defRPr>
            </a:pPr>
            <a:r>
              <a:t>Earned Leave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063240"/>
            <a:ext cx="164592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2529"/>
                </a:solidFill>
              </a:defRPr>
            </a:pPr>
            <a:r>
              <a:t>Accrued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063240"/>
            <a:ext cx="4937760" cy="45720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Based on service duration and attendance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3474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5266"/>
                </a:solidFill>
              </a:defRPr>
            </a:pPr>
            <a:r>
              <a:t>LWP (Leave Without Pay)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52044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2529"/>
                </a:solidFill>
              </a:defRPr>
            </a:pPr>
            <a:r>
              <a:t>Unlimited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520440"/>
            <a:ext cx="49377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Salary deducted for absent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Key Features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09159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634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Online leave application with date range selection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056631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Automatic leave balance checking and deduction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404103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58383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Multi-level approval workflow (sequential approvers)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751575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05855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Complete leave history per employee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6099047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053327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Pending leave status checker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6446519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400799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Approver dashboard for pending requests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297680"/>
            <a:ext cx="5669280" cy="219456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434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66"/>
                </a:solidFill>
              </a:defRPr>
            </a:pPr>
            <a:r>
              <a:t>Leave Approval Workflow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937760"/>
            <a:ext cx="1280160" cy="5486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72400" y="5074920"/>
            <a:ext cx="457200" cy="27432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0" y="4937760"/>
            <a:ext cx="1280160" cy="5486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01200" y="5074920"/>
            <a:ext cx="457200" cy="27432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0" y="4937760"/>
            <a:ext cx="1280160" cy="5486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760720"/>
            <a:ext cx="1463040" cy="3657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5760720"/>
            <a:ext cx="146304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Approved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5760720"/>
            <a:ext cx="1463040" cy="3657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Payroll &amp; Salary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486400" cy="2377440"/>
          </a:xfrm>
          <a:prstGeom prst="roundRect">
            <a:avLst/>
          </a:prstGeom>
          <a:solidFill>
            <a:srgbClr val="E8F5E9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Earnings Components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57400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Basic Salary (slab-based calculation)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13432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Food Allowance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69464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Station Allowance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79776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Hardship Allowance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81528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3580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Conveyance Allowance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337560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Medical Allowance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593592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4787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Festival &amp; Incentive Bonus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849624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03904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Other Earnings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14800"/>
            <a:ext cx="5486400" cy="2377440"/>
          </a:xfrm>
          <a:prstGeom prst="roundRect">
            <a:avLst/>
          </a:prstGeom>
          <a:solidFill>
            <a:srgbClr val="FFEBEE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Deductions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617720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Gratuity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910328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6460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CPF (Contributory Provident Fund)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202936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57216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Festival Advance Recovery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495544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49824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Loan Deduction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5788152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4243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TDS (Tax Deducted at Source)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6080760"/>
            <a:ext cx="137160" cy="1371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Other Deductions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155448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1554480"/>
            <a:ext cx="5669280" cy="64008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Monthly Payslip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2860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Employee: John Doe    |    ID: EMP001    |    Month: April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089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A745"/>
                </a:solidFill>
              </a:defRPr>
            </a:pPr>
            <a:r>
              <a:t>EARNINGS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Basic Salary: 25,000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Allowances: 12,500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Bonus: 5,000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──────────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Gross: 42,500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1089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3545"/>
                </a:solidFill>
              </a:defRPr>
            </a:pPr>
            <a:r>
              <a:t>DEDUCTIONS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CPF: 3,000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Gratuity: 1,500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TDS: 2,500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──────────</a:t>
            </a:r>
          </a:p>
          <a:p>
            <a:pPr>
              <a:defRPr sz="1100" b="1">
                <a:solidFill>
                  <a:srgbClr val="DC3545"/>
                </a:solidFill>
              </a:defRPr>
            </a:pPr>
            <a:r>
              <a:t>Total: 7,000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486400"/>
            <a:ext cx="3657600" cy="73152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NET SALARY: ৳ 35,500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Shift &amp; Roster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486400" cy="219456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Shift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1206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B91"/>
                </a:solidFill>
              </a:defRPr>
            </a:pPr>
            <a:r>
              <a:t>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09:00 - 18:00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51206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A745"/>
                </a:solidFill>
              </a:defRPr>
            </a:pPr>
            <a:r>
              <a:t>Morning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51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06:00 - 14:00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1206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Evening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08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14:00 - 22:00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1206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62FF"/>
                </a:solidFill>
              </a:defRPr>
            </a:pPr>
            <a:r>
              <a:t>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66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22:00 - 06:00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5486400" cy="256032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Duty Roster System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480559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Download pre-filled Excel roster templates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892040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Fill daily shift codes: G, M, E, N, O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303520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Upload completed roster via Excel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715000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System auto-assigns shifts for the month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554480"/>
            <a:ext cx="5669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Shift Resolution Priority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103120"/>
            <a:ext cx="320040" cy="3200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1031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Duty Roster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14883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Highest priority - specific daily assignments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2743200"/>
            <a:ext cx="320040" cy="32004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743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Global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7889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Organization-wide overrides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383280"/>
            <a:ext cx="320040" cy="32004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383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Employee Shift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429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Default employee shift assignment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0" y="4023360"/>
            <a:ext cx="320040" cy="32004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023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0690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Standard 09:00-18:00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4937760"/>
            <a:ext cx="5669280" cy="1554480"/>
          </a:xfrm>
          <a:prstGeom prst="roundRect">
            <a:avLst/>
          </a:prstGeom>
          <a:solidFill>
            <a:srgbClr val="FFF3E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029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Global Schedule Overrides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Organization-wide schedule changes (e.g., Ramadan hours, holidays) with date range and time override. Can apply to specific shifts or all shifts.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Policy Management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669280" cy="2560320"/>
          </a:xfrm>
          <a:prstGeom prst="roundRect">
            <a:avLst/>
          </a:prstGeom>
          <a:solidFill>
            <a:srgbClr val="E8F5E9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Leave Policies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148839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Configurable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Set allowed days per leave type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51759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Employee Type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3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Regular, Casual, Contractual, Temporary applicability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54679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Gender Restrictions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0895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Male/Female/All employee restrictions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57599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7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Carry-Forward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1187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Unused leave rollover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97680"/>
            <a:ext cx="5669280" cy="2377440"/>
          </a:xfrm>
          <a:prstGeom prst="roundRect">
            <a:avLst/>
          </a:prstGeom>
          <a:solidFill>
            <a:srgbClr val="E3F2FD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Salary Policies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46320"/>
            <a:ext cx="164592" cy="164592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Slab-Based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006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Gross salary ranges → Basic %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349240"/>
            <a:ext cx="164592" cy="164592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Join Date Cutoff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3035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Different rates for old vs new employees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852159"/>
            <a:ext cx="164592" cy="164592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Festival Bonus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8064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Configurable percentage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6355079"/>
            <a:ext cx="164592" cy="164592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309359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2529"/>
                </a:solidFill>
              </a:defRPr>
            </a:pPr>
            <a:r>
              <a:t>Incentive Bonus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630935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Performance-based configuration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5544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66"/>
                </a:solidFill>
              </a:defRPr>
            </a:pPr>
            <a:r>
              <a:t>Policy Configuration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194560"/>
            <a:ext cx="512064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66"/>
                </a:solidFill>
              </a:defRPr>
            </a:pPr>
            <a:r>
              <a:t>Sick Leave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228600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651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Applies to: All Employees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337560"/>
            <a:ext cx="512064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429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66"/>
                </a:solidFill>
              </a:defRPr>
            </a:pPr>
            <a:r>
              <a:t>Casual Leave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42900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794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Applies to: All Employees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4480560"/>
            <a:ext cx="512064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572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66"/>
                </a:solidFill>
              </a:defRPr>
            </a:pPr>
            <a:r>
              <a:t>Basic Salary 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457200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50-60%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Applies to: Based on Gross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5623560"/>
            <a:ext cx="512064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715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66"/>
                </a:solidFill>
              </a:defRPr>
            </a:pPr>
            <a:r>
              <a:t>Festival Bonus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5715000"/>
            <a:ext cx="1280160" cy="32004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 Basic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6080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Applies to: Once per year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Approval Workflow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11430000" cy="201168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Three-Tier Hierarchy Resolution (Priority Order)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148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3545"/>
                </a:solidFill>
              </a:defRPr>
            </a:pPr>
            <a:r>
              <a:t>Employee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Individual hierarchy overrides on employee record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606040"/>
            <a:ext cx="365760" cy="22860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59" y="210312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148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Sub-Center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Default hierarchies per sub-center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59" y="2606040"/>
            <a:ext cx="365760" cy="22860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201168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9" y="2103120"/>
            <a:ext cx="365760" cy="36576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9" y="2148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B91"/>
                </a:solidFill>
              </a:defRPr>
            </a:pPr>
            <a:r>
              <a:t>Reporting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Auto-built 2-level chain from reporting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39"/>
            <a:ext cx="5486400" cy="292608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Separate Approval Hierarchies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365760" cy="36576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C8"/>
                </a:solidFill>
              </a:defRPr>
            </a:pPr>
            <a:r>
              <a:t>Leave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Multi-level chain for leave requests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365760" cy="36576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C8"/>
                </a:solidFill>
              </a:defRPr>
            </a:pPr>
            <a:r>
              <a:t>Check-In 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Late arrival justifications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43600"/>
            <a:ext cx="365760" cy="36576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43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C8"/>
                </a:solidFill>
              </a:defRPr>
            </a:pPr>
            <a:r>
              <a:t>Check-Out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217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Early departure justifications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749039"/>
            <a:ext cx="5669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862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Workflow Process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89120"/>
            <a:ext cx="1097280" cy="73152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543800" y="4617720"/>
            <a:ext cx="320040" cy="27432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0" y="4389120"/>
            <a:ext cx="1097280" cy="73152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915400" y="4617720"/>
            <a:ext cx="320040" cy="27432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0" y="4389120"/>
            <a:ext cx="1097280" cy="73152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287000" y="4617720"/>
            <a:ext cx="320040" cy="274320"/>
          </a:xfrm>
          <a:prstGeom prst="rightArrow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515600" y="4389120"/>
            <a:ext cx="1097280" cy="73152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5349240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3035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Complete audit logs for all approvals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696712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65099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Rejection at any level stops the chain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6044183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599846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Comments/remarks at each step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6391655"/>
            <a:ext cx="137160" cy="1371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6345936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Real-time status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Compliance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11430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480560" cy="4572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45920"/>
            <a:ext cx="3566160" cy="4572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System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44805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Consecutive Working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148840"/>
            <a:ext cx="210312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7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148840"/>
            <a:ext cx="35661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Warning + Justification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44805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Consecutive Working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560320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10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560320"/>
            <a:ext cx="3566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DC3545"/>
                </a:solidFill>
              </a:defRPr>
            </a:pPr>
            <a:r>
              <a:t>Check-in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44805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Weekly Total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971800"/>
            <a:ext cx="210312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48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35661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Warning Issued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44805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Weekly Overtime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383280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12 hours 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383280"/>
            <a:ext cx="3566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DC3545"/>
                </a:solidFill>
              </a:defRPr>
            </a:pPr>
            <a:r>
              <a:t>Check-in BLOCKED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44805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Weekly Total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94760"/>
            <a:ext cx="210312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60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794760"/>
            <a:ext cx="35661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DC3545"/>
                </a:solidFill>
              </a:defRPr>
            </a:pPr>
            <a:r>
              <a:t>Check-in BLOCKED (Hard Cap)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44805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Annual Average Weekly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56 hours/week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206240"/>
            <a:ext cx="3566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Flagged for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44805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Over-Duty (Single Day)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617720"/>
            <a:ext cx="210312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5266"/>
                </a:solidFill>
              </a:defRPr>
            </a:pPr>
            <a:r>
              <a:t>&gt;9 hours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617720"/>
            <a:ext cx="3566160" cy="411480"/>
          </a:xfrm>
          <a:prstGeom prst="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C107"/>
                </a:solidFill>
              </a:defRPr>
            </a:pPr>
            <a:r>
              <a:t>Check-out Justification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349240"/>
            <a:ext cx="11430000" cy="1234440"/>
          </a:xfrm>
          <a:prstGeom prst="roundRect">
            <a:avLst/>
          </a:prstGeom>
          <a:solidFill>
            <a:srgbClr val="FFF3E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Compliance Flexibility &amp; Overrides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58521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06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Per-employee compliance relaxation override</a:t>
            </a:r>
          </a:p>
        </p:txBody>
      </p:sp>
      <p:sp>
        <p:nvSpPr>
          <p:cNvPr id="34" name="Oval 33"/>
          <p:cNvSpPr/>
          <p:nvPr/>
        </p:nvSpPr>
        <p:spPr>
          <a:xfrm>
            <a:off x="4297679" y="58521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79" y="5806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Per-sub-center compliance relaxation via Settings</a:t>
            </a:r>
          </a:p>
        </p:txBody>
      </p:sp>
      <p:sp>
        <p:nvSpPr>
          <p:cNvPr id="36" name="Oval 35"/>
          <p:cNvSpPr/>
          <p:nvPr/>
        </p:nvSpPr>
        <p:spPr>
          <a:xfrm>
            <a:off x="8046719" y="58521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5806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Real-time compliance status monitoring per employee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Admin Panel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13716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874519"/>
            <a:ext cx="548640" cy="54864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B91"/>
                </a:solidFill>
              </a:defRPr>
            </a:pPr>
            <a:r>
              <a:t>Shift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Create, update, delete shift definitions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54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3657600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874519"/>
            <a:ext cx="548640" cy="54864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8348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62FF"/>
                </a:solidFill>
              </a:defRPr>
            </a:pPr>
            <a:r>
              <a:t>Approval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Configure multi-level approval chains per sub-center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554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554480"/>
            <a:ext cx="36576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2440" y="1874519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32519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Global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Set organization-wide schedule overrides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40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36576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4160520"/>
            <a:ext cx="548640" cy="54864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34440" y="4206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107"/>
                </a:solidFill>
              </a:defRPr>
            </a:pPr>
            <a:r>
              <a:t>Duty Roster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Download templates, upload filled rosters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840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0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3657600" cy="13716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3400" y="4160520"/>
            <a:ext cx="548640" cy="548640"/>
          </a:xfrm>
          <a:prstGeom prst="ellipse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83480" y="4206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66"/>
                </a:solidFill>
              </a:defRPr>
            </a:pPr>
            <a:r>
              <a:t>Sub-Center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Configure hierarchies and compliance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84048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3840480"/>
            <a:ext cx="36576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732519" y="4206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User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Create Admin, Manager, Employee accounts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Analytics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5486400" cy="274320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Dashboard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91"/>
                </a:solidFill>
              </a:defRPr>
            </a:pPr>
            <a:r>
              <a:t>167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Total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031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194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</a:defRPr>
            </a:pPr>
            <a: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26060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On Leave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1089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62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36118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New This 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480560"/>
            <a:ext cx="5486400" cy="219456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Available Reports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Monthly Attendance Summary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59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Salary Hold Log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714999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79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Separation Log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6035039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989319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Transfer History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355079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309359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File Closing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5544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HR Analytics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Engineering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240279"/>
            <a:ext cx="2880360" cy="228600"/>
          </a:xfrm>
          <a:prstGeom prst="round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4200" y="21945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B91"/>
                </a:solidFill>
              </a:defRPr>
            </a:pPr>
            <a:r>
              <a:t>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651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HR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97479"/>
            <a:ext cx="768096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1936" y="2651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8A745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Finance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154679"/>
            <a:ext cx="1152144" cy="228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15984" y="3108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107"/>
                </a:solidFill>
              </a:defRPr>
            </a:pPr>
            <a: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566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Operations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611879"/>
            <a:ext cx="2432304" cy="22860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6144" y="35661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62FF"/>
                </a:solidFill>
              </a:defRPr>
            </a:pPr>
            <a:r>
              <a:t>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069080"/>
            <a:ext cx="1600200" cy="22860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4023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66"/>
                </a:solidFill>
              </a:defRPr>
            </a:pPr>
            <a: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5720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Employee Status Distribution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02920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Active (85%)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5029200"/>
            <a:ext cx="228600" cy="228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19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On Leave (8%)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5029200"/>
            <a:ext cx="228600" cy="228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799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</a:defRPr>
            </a:pPr>
            <a:r>
              <a:t>Resigned (7%)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645920"/>
            <a:ext cx="3474720" cy="4937760"/>
          </a:xfrm>
          <a:prstGeom prst="round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04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645920"/>
            <a:ext cx="4114800" cy="2560320"/>
          </a:xfrm>
          <a:prstGeom prst="roundRect">
            <a:avLst/>
          </a:prstGeom>
          <a:solidFill>
            <a:srgbClr val="F0F8FA"/>
          </a:solidFill>
          <a:ln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66"/>
                </a:solidFill>
              </a:defRPr>
            </a:pPr>
            <a:r>
              <a:t>Platform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Platform: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4028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Android (via Capacitor)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243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App ID: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243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com.metal.hrms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Framework: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0837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Capacitor + Web 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92424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Build Tool: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39242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Android Studio / Gradle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7647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Package: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776472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APK (Android Package)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389120"/>
            <a:ext cx="4114800" cy="219456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526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Mobile Features</a:t>
            </a:r>
          </a:p>
        </p:txBody>
      </p:sp>
      <p:sp>
        <p:nvSpPr>
          <p:cNvPr id="21" name="Oval 20"/>
          <p:cNvSpPr/>
          <p:nvPr/>
        </p:nvSpPr>
        <p:spPr>
          <a:xfrm>
            <a:off x="4297680" y="4983480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9377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GPS-based attendance with selfie verification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297680" y="5330952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52852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Real-time check-in/check-out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0" y="5678424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632704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Leave application on the go</a:t>
            </a:r>
          </a:p>
        </p:txBody>
      </p:sp>
      <p:sp>
        <p:nvSpPr>
          <p:cNvPr id="27" name="Oval 26"/>
          <p:cNvSpPr/>
          <p:nvPr/>
        </p:nvSpPr>
        <p:spPr>
          <a:xfrm>
            <a:off x="4297680" y="6025896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98017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View attendance history &amp; balances</a:t>
            </a:r>
          </a:p>
        </p:txBody>
      </p:sp>
      <p:sp>
        <p:nvSpPr>
          <p:cNvPr id="29" name="Oval 28"/>
          <p:cNvSpPr/>
          <p:nvPr/>
        </p:nvSpPr>
        <p:spPr>
          <a:xfrm>
            <a:off x="4297680" y="6373368"/>
            <a:ext cx="137160" cy="13716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63276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Push notifications for approvals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1645920"/>
            <a:ext cx="3474720" cy="493776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1783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66"/>
                </a:solidFill>
              </a:defRPr>
            </a:pPr>
            <a:r>
              <a:t>App Assets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2860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App Icon</a:t>
            </a:r>
          </a:p>
        </p:txBody>
      </p:sp>
      <p:pic>
        <p:nvPicPr>
          <p:cNvPr id="34" name="Picture 33" descr="ic_launc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651760"/>
            <a:ext cx="1371600" cy="137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95360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Splash Screen</a:t>
            </a:r>
          </a:p>
        </p:txBody>
      </p:sp>
      <p:pic>
        <p:nvPicPr>
          <p:cNvPr id="36" name="Picture 35" descr="sp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480560"/>
            <a:ext cx="3108960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566160" cy="45720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Username/password with hashed passwords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55448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554480"/>
            <a:ext cx="356616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Role-based access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55448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554480"/>
            <a:ext cx="356616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45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API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RESTful API with route protection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566160" cy="457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Data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MongoDB Atlas with encrypted connections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65760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00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0" y="3657600"/>
            <a:ext cx="3566160" cy="4572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File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Secure server storage for uploads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65760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3657600"/>
            <a:ext cx="356616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Client-Server with separation of concerns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715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</a:defRPr>
            </a:pPr>
            <a:r>
              <a:t>User Roles: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5669280"/>
            <a:ext cx="1097280" cy="3657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669280"/>
            <a:ext cx="1097280" cy="3657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66928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Benefits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371600" cy="507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55448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09728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691639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Eliminates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100% digital HR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5448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109728" cy="137160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691639"/>
            <a:ext cx="365760" cy="36576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37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B91"/>
                </a:solidFill>
              </a:defRPr>
            </a:pPr>
            <a:r>
              <a:t>Time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Automated salary, attendance, leave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55448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554480"/>
            <a:ext cx="109728" cy="1371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2440" y="1691639"/>
            <a:ext cx="365760" cy="36576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737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962FF"/>
                </a:solidFill>
              </a:defRPr>
            </a:pPr>
            <a: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Reduces human error in payroll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01752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109728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315467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118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Automated labor law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01752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3017520"/>
            <a:ext cx="109728" cy="1371600"/>
          </a:xfrm>
          <a:prstGeom prst="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3400" y="3154679"/>
            <a:ext cx="365760" cy="365760"/>
          </a:xfrm>
          <a:prstGeom prst="ellipse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66"/>
                </a:solidFill>
              </a:defRPr>
            </a:pPr>
            <a:r>
              <a:t>Transparency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6118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Full audit trails for all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01752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3017520"/>
            <a:ext cx="109728" cy="1371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2440" y="3154679"/>
            <a:ext cx="365760" cy="3657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3545"/>
                </a:solidFill>
              </a:defRPr>
            </a:pPr>
            <a:r>
              <a:t>Accessibility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6118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Desktop and mobile anytime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48056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480560"/>
            <a:ext cx="109728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" y="461772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663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Scalability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MongoDB handles growing workforce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48056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4480560"/>
            <a:ext cx="109728" cy="1371600"/>
          </a:xfrm>
          <a:prstGeom prst="rect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43400" y="4617720"/>
            <a:ext cx="365760" cy="365760"/>
          </a:xfrm>
          <a:prstGeom prst="ellipse">
            <a:avLst/>
          </a:prstGeom>
          <a:solidFill>
            <a:srgbClr val="00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4663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B91"/>
                </a:solidFill>
              </a:defRPr>
            </a:pPr>
            <a:r>
              <a:t>Cost Reduction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Significant HR admin savings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448056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0" y="4480560"/>
            <a:ext cx="109728" cy="1371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92440" y="4617720"/>
            <a:ext cx="365760" cy="36576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4663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962FF"/>
                </a:solidFill>
              </a:defRPr>
            </a:pPr>
            <a:r>
              <a:t>Data-Driven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Analytics for management insights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6035040"/>
            <a:ext cx="11430000" cy="640080"/>
          </a:xfrm>
          <a:prstGeom prst="roundRect">
            <a:avLst/>
          </a:prstGeom>
          <a:solidFill>
            <a:srgbClr val="00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Return on Investment: Reduced administrative overhead + Increased accuracy + Improved compliance = Significant cost savings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B91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A8B5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743200" cy="1014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C8"/>
                </a:solidFill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Metal Reconstruction (1985) Ltd. | HRMS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